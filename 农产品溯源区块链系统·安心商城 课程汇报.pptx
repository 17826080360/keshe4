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notesSlides/notesSlide1.xml" Type="http://schemas.openxmlformats.org/officeDocument/2006/relationships/notesSlide"/><Relationship Id="rId19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26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开场介绍项目。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目录页。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需求分析。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功能流程。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商城实拍。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ER 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架构。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notesSlides/notesSlide3.xml" Type="http://schemas.openxmlformats.org/officeDocument/2006/relationships/notesSlid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notesSlides/notesSlide4.xml" Type="http://schemas.openxmlformats.org/officeDocument/2006/relationships/notesSlid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1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42D1E">
                <a:alpha val="100000"/>
              </a:srgbClr>
            </a:gs>
            <a:gs pos="60000">
              <a:srgbClr val="2D5A3C">
                <a:alpha val="100000"/>
              </a:srgbClr>
            </a:gs>
            <a:gs pos="100000">
              <a:srgbClr val="508C64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2032000"/>
            <a:ext cx="1016000" cy="76200"/>
          </a:xfrm>
          <a:prstGeom prst="roundRect">
            <a:avLst>
              <a:gd name="adj" fmla="val 0"/>
            </a:avLst>
          </a:prstGeom>
          <a:solidFill>
            <a:srgbClr val="FFD2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2413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农产品溯源区块链系统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355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DCEBDE"/>
                </a:solidFill>
                <a:latin typeface="Noto Sans SC"/>
                <a:ea typeface="Noto Sans SC"/>
                <a:cs typeface="Noto Sans SC"/>
                <a:sym typeface="Noto Sans SC"/>
              </a:rPr>
              <a:t>安心商城 · 从田间到餐桌，每一口都可追溯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4572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4CDBC"/>
                </a:solidFill>
                <a:latin typeface="Noto Sans SC"/>
                <a:ea typeface="Noto Sans SC"/>
                <a:cs typeface="Noto Sans SC"/>
                <a:sym typeface="Noto Sans SC"/>
              </a:rPr>
              <a:t>区块链溯源 ｜ 安心商城 ｜ AI 智能助手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588000"/>
            <a:ext cx="2540000" cy="457200"/>
          </a:xfrm>
          <a:prstGeom prst="roundRect">
            <a:avLst>
              <a:gd name="adj" fmla="val 50000"/>
            </a:avLst>
          </a:prstGeom>
          <a:solidFill>
            <a:srgbClr val="FFD2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5588000"/>
            <a:ext cx="254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3223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课程实践汇报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A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524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1F3D2A">
                  <a:alpha val="100000"/>
                </a:srgbClr>
              </a:gs>
              <a:gs pos="100000">
                <a:srgbClr val="78A587">
                  <a:alpha val="100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698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F7352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 · 目录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079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F3D2A"/>
                </a:solidFill>
                <a:latin typeface="Noto Sans SC"/>
                <a:ea typeface="Noto Sans SC"/>
                <a:cs typeface="Noto Sans SC"/>
                <a:sym typeface="Noto Sans SC"/>
              </a:rPr>
              <a:t>六个部分，看懂我们的系统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159000"/>
            <a:ext cx="3175000" cy="1651000"/>
          </a:xfrm>
          <a:prstGeom prst="roundRect">
            <a:avLst>
              <a:gd name="adj" fmla="val 1076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1E8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159000"/>
            <a:ext cx="76200" cy="1651000"/>
          </a:xfrm>
          <a:prstGeom prst="roundRect">
            <a:avLst>
              <a:gd name="adj" fmla="val 0"/>
            </a:avLst>
          </a:prstGeom>
          <a:solidFill>
            <a:srgbClr val="3F73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397000" y="23495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F7352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397000" y="292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322D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397000" y="3327400"/>
            <a:ext cx="254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28C82"/>
                </a:solidFill>
                <a:latin typeface="Noto Sans SC"/>
                <a:ea typeface="Noto Sans SC"/>
                <a:cs typeface="Noto Sans SC"/>
                <a:sym typeface="Noto Sans SC"/>
              </a:rPr>
              <a:t>痛点 · 目标 · 用户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08500" y="2159000"/>
            <a:ext cx="3175000" cy="1651000"/>
          </a:xfrm>
          <a:prstGeom prst="roundRect">
            <a:avLst>
              <a:gd name="adj" fmla="val 1076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1E8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08500" y="2159000"/>
            <a:ext cx="76200" cy="1651000"/>
          </a:xfrm>
          <a:prstGeom prst="roundRect">
            <a:avLst>
              <a:gd name="adj" fmla="val 0"/>
            </a:avLst>
          </a:prstGeom>
          <a:solidFill>
            <a:srgbClr val="3F73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889500" y="23495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F7352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889500" y="292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322D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功能介绍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4889500" y="3327400"/>
            <a:ext cx="254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28C82"/>
                </a:solidFill>
                <a:latin typeface="Noto Sans SC"/>
                <a:ea typeface="Noto Sans SC"/>
                <a:cs typeface="Noto Sans SC"/>
                <a:sym typeface="Noto Sans SC"/>
              </a:rPr>
              <a:t>溯源全链路 · 商城交易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01000" y="2159000"/>
            <a:ext cx="3175000" cy="1651000"/>
          </a:xfrm>
          <a:prstGeom prst="roundRect">
            <a:avLst>
              <a:gd name="adj" fmla="val 1076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1E8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2159000"/>
            <a:ext cx="76200" cy="1651000"/>
          </a:xfrm>
          <a:prstGeom prst="roundRect">
            <a:avLst>
              <a:gd name="adj" fmla="val 0"/>
            </a:avLst>
          </a:prstGeom>
          <a:solidFill>
            <a:srgbClr val="3F73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8382000" y="23495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F7352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382000" y="292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322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382000" y="3327400"/>
            <a:ext cx="254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28C82"/>
                </a:solidFill>
                <a:latin typeface="Noto Sans SC"/>
                <a:ea typeface="Noto Sans SC"/>
                <a:cs typeface="Noto Sans SC"/>
                <a:sym typeface="Noto Sans SC"/>
              </a:rPr>
              <a:t>三层模型 · 15 张表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4064000"/>
            <a:ext cx="3175000" cy="1651000"/>
          </a:xfrm>
          <a:prstGeom prst="roundRect">
            <a:avLst>
              <a:gd name="adj" fmla="val 1076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1E8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4064000"/>
            <a:ext cx="76200" cy="1651000"/>
          </a:xfrm>
          <a:prstGeom prst="roundRect">
            <a:avLst>
              <a:gd name="adj" fmla="val 0"/>
            </a:avLst>
          </a:prstGeom>
          <a:solidFill>
            <a:srgbClr val="C8822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397000" y="42545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88228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1397000" y="4826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322D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1397000" y="5232400"/>
            <a:ext cx="254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28C82"/>
                </a:solidFill>
                <a:latin typeface="Noto Sans SC"/>
                <a:ea typeface="Noto Sans SC"/>
                <a:cs typeface="Noto Sans SC"/>
                <a:sym typeface="Noto Sans SC"/>
              </a:rPr>
              <a:t>Flask · MySQL · 区块链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508500" y="4064000"/>
            <a:ext cx="3175000" cy="1651000"/>
          </a:xfrm>
          <a:prstGeom prst="roundRect">
            <a:avLst>
              <a:gd name="adj" fmla="val 1076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1E8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508500" y="4064000"/>
            <a:ext cx="76200" cy="1651000"/>
          </a:xfrm>
          <a:prstGeom prst="roundRect">
            <a:avLst>
              <a:gd name="adj" fmla="val 0"/>
            </a:avLst>
          </a:prstGeom>
          <a:solidFill>
            <a:srgbClr val="C8822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4889500" y="42545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88228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4889500" y="4826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322D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4889500" y="5232400"/>
            <a:ext cx="254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28C82"/>
                </a:solidFill>
                <a:latin typeface="Noto Sans SC"/>
                <a:ea typeface="Noto Sans SC"/>
                <a:cs typeface="Noto Sans SC"/>
                <a:sym typeface="Noto Sans SC"/>
              </a:rPr>
              <a:t>优势 · 不足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001000" y="4064000"/>
            <a:ext cx="3175000" cy="1651000"/>
          </a:xfrm>
          <a:prstGeom prst="roundRect">
            <a:avLst>
              <a:gd name="adj" fmla="val 1076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1E8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001000" y="4064000"/>
            <a:ext cx="76200" cy="1651000"/>
          </a:xfrm>
          <a:prstGeom prst="roundRect">
            <a:avLst>
              <a:gd name="adj" fmla="val 0"/>
            </a:avLst>
          </a:prstGeom>
          <a:solidFill>
            <a:srgbClr val="C8822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 txBox="true"/>
          <p:nvPr/>
        </p:nvSpPr>
        <p:spPr>
          <a:xfrm rot="0" flipH="false" flipV="false">
            <a:off x="8382000" y="42545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88228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33" id="33"/>
          <p:cNvSpPr txBox="true"/>
          <p:nvPr/>
        </p:nvSpPr>
        <p:spPr>
          <a:xfrm rot="0" flipH="false" flipV="false">
            <a:off x="8382000" y="4826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322D"/>
                </a:solidFill>
                <a:latin typeface="Noto Sans SC"/>
                <a:ea typeface="Noto Sans SC"/>
                <a:cs typeface="Noto Sans SC"/>
                <a:sym typeface="Noto Sans SC"/>
              </a:rPr>
              <a:t>团队与展望</a:t>
            </a:r>
            <a:endParaRPr lang="en-US" sz="1100"/>
          </a:p>
        </p:txBody>
      </p:sp>
      <p:sp>
        <p:nvSpPr>
          <p:cNvPr name="AutoShape 34" id="34"/>
          <p:cNvSpPr txBox="true"/>
          <p:nvPr/>
        </p:nvSpPr>
        <p:spPr>
          <a:xfrm rot="0" flipH="false" flipV="false">
            <a:off x="8382000" y="5232400"/>
            <a:ext cx="254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28C82"/>
                </a:solidFill>
                <a:latin typeface="Noto Sans SC"/>
                <a:ea typeface="Noto Sans SC"/>
                <a:cs typeface="Noto Sans SC"/>
                <a:sym typeface="Noto Sans SC"/>
              </a:rPr>
              <a:t>合影 · 未来规划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52400" cy="6858000"/>
          </a:xfrm>
          <a:prstGeom prst="roundRect">
            <a:avLst>
              <a:gd name="adj" fmla="val 0"/>
            </a:avLst>
          </a:prstGeom>
          <a:solidFill>
            <a:srgbClr val="3F73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F7352"/>
                </a:solidFill>
                <a:latin typeface="Noto Sans SC"/>
                <a:ea typeface="Noto Sans SC"/>
                <a:cs typeface="Noto Sans SC"/>
                <a:sym typeface="Noto Sans SC"/>
              </a:rPr>
              <a:t>01 · 需求分析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F3D2A"/>
                </a:solidFill>
                <a:latin typeface="Noto Sans SC"/>
                <a:ea typeface="Noto Sans SC"/>
                <a:cs typeface="Noto Sans SC"/>
                <a:sym typeface="Noto Sans SC"/>
              </a:rPr>
              <a:t>食品安全痛点，催生我们的系统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68500"/>
            <a:ext cx="304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B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70000" y="21844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1841500" y="2095500"/>
            <a:ext cx="203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BE5046"/>
                </a:solidFill>
                <a:latin typeface="Noto Sans SC"/>
                <a:ea typeface="Noto Sans SC"/>
                <a:cs typeface="Noto Sans SC"/>
                <a:sym typeface="Noto Sans SC"/>
              </a:rPr>
              <a:t>5+ 角色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841500" y="26035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786E"/>
                </a:solidFill>
                <a:latin typeface="Noto Sans SC"/>
                <a:ea typeface="Noto Sans SC"/>
                <a:cs typeface="Noto Sans SC"/>
                <a:sym typeface="Noto Sans SC"/>
              </a:rPr>
              <a:t>农户/销售/物流/消费者/管理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18000" y="1968500"/>
            <a:ext cx="304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B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21844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 txBox="true"/>
          <p:nvPr/>
        </p:nvSpPr>
        <p:spPr>
          <a:xfrm rot="0" flipH="false" flipV="false">
            <a:off x="5143500" y="2095500"/>
            <a:ext cx="203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F7352"/>
                </a:solidFill>
                <a:latin typeface="Noto Sans SC"/>
                <a:ea typeface="Noto Sans SC"/>
                <a:cs typeface="Noto Sans SC"/>
                <a:sym typeface="Noto Sans SC"/>
              </a:rPr>
              <a:t>15 张表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143500" y="26035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786E"/>
                </a:solidFill>
                <a:latin typeface="Noto Sans SC"/>
                <a:ea typeface="Noto Sans SC"/>
                <a:cs typeface="Noto Sans SC"/>
                <a:sym typeface="Noto Sans SC"/>
              </a:rPr>
              <a:t>MySQL 业务库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0" y="1968500"/>
            <a:ext cx="3048000" cy="1143000"/>
          </a:xfrm>
          <a:prstGeom prst="roundRect">
            <a:avLst>
              <a:gd name="adj" fmla="val 11111"/>
            </a:avLst>
          </a:prstGeom>
          <a:gradFill rotWithShape="true">
            <a:gsLst>
              <a:gs pos="0">
                <a:srgbClr val="1F3D2A">
                  <a:alpha val="100000"/>
                </a:srgbClr>
              </a:gs>
              <a:gs pos="100000">
                <a:srgbClr val="3F7352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874000" y="21844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 txBox="true"/>
          <p:nvPr/>
        </p:nvSpPr>
        <p:spPr>
          <a:xfrm rot="0" flipH="false" flipV="false">
            <a:off x="8445500" y="2095500"/>
            <a:ext cx="203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278"/>
                </a:solidFill>
                <a:latin typeface="Noto Sans SC"/>
                <a:ea typeface="Noto Sans SC"/>
                <a:cs typeface="Noto Sans SC"/>
                <a:sym typeface="Noto Sans SC"/>
              </a:rPr>
              <a:t>100% 上链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8445500" y="26035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CEBDE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关键记录哈希防篡改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3492500"/>
            <a:ext cx="4826000" cy="2413000"/>
          </a:xfrm>
          <a:prstGeom prst="roundRect">
            <a:avLst>
              <a:gd name="adj" fmla="val 6315"/>
            </a:avLst>
          </a:prstGeom>
          <a:solidFill>
            <a:srgbClr val="FFF5F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270000" y="36830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 txBox="true"/>
          <p:nvPr/>
        </p:nvSpPr>
        <p:spPr>
          <a:xfrm rot="0" flipH="false" flipV="false">
            <a:off x="1752600" y="3683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BE5046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传统模式的痛点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270000" y="4191000"/>
            <a:ext cx="431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41666"/>
              </a:lnSpc>
              <a:buClr>
                <a:srgbClr val="46322D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46322D"/>
                </a:solidFill>
                <a:latin typeface="Noto Sans SC"/>
                <a:ea typeface="Noto Sans SC"/>
                <a:cs typeface="Noto Sans SC"/>
                <a:sym typeface="Noto Sans SC"/>
              </a:rPr>
              <a:t>环节多，出问题难追责到人</a:t>
            </a:r>
            <a:endParaRPr lang="en-US" sz="1100"/>
          </a:p>
          <a:p>
            <a:pPr algn="l" indent="-165100" marL="165100">
              <a:lnSpc>
                <a:spcPct val="141666"/>
              </a:lnSpc>
              <a:buClr>
                <a:srgbClr val="46322D"/>
              </a:buClr>
              <a:buChar char="•"/>
            </a:pPr>
            <a:r>
              <a:rPr lang="en-US" b="false" i="false" strike="noStrike" u="none" sz="1300">
                <a:solidFill>
                  <a:srgbClr val="46322D"/>
                </a:solidFill>
                <a:latin typeface="Noto Sans SC"/>
                <a:ea typeface="Noto Sans SC"/>
                <a:cs typeface="Noto Sans SC"/>
                <a:sym typeface="Noto Sans SC"/>
              </a:rPr>
              <a:t>纸质记录易涂改、易丢失</a:t>
            </a:r>
          </a:p>
          <a:p>
            <a:pPr algn="l" indent="-165100" marL="165100">
              <a:lnSpc>
                <a:spcPct val="141666"/>
              </a:lnSpc>
              <a:buClr>
                <a:srgbClr val="46322D"/>
              </a:buClr>
              <a:buChar char="•"/>
            </a:pPr>
            <a:r>
              <a:rPr lang="en-US" b="false" i="false" strike="noStrike" u="none" sz="1300">
                <a:solidFill>
                  <a:srgbClr val="46322D"/>
                </a:solidFill>
                <a:latin typeface="Noto Sans SC"/>
                <a:ea typeface="Noto Sans SC"/>
                <a:cs typeface="Noto Sans SC"/>
                <a:sym typeface="Noto Sans SC"/>
              </a:rPr>
              <a:t>扫码只能看到宣传语</a:t>
            </a:r>
          </a:p>
          <a:p>
            <a:pPr algn="l" indent="-165100" marL="165100">
              <a:lnSpc>
                <a:spcPct val="141666"/>
              </a:lnSpc>
              <a:buClr>
                <a:srgbClr val="46322D"/>
              </a:buClr>
              <a:buChar char="•"/>
            </a:pPr>
            <a:r>
              <a:rPr lang="en-US" b="false" i="false" strike="noStrike" u="none" sz="1300">
                <a:solidFill>
                  <a:srgbClr val="46322D"/>
                </a:solidFill>
                <a:latin typeface="Noto Sans SC"/>
                <a:ea typeface="Noto Sans SC"/>
                <a:cs typeface="Noto Sans SC"/>
                <a:sym typeface="Noto Sans SC"/>
              </a:rPr>
              <a:t>农户与销售商信息不通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50000" y="3492500"/>
            <a:ext cx="4826000" cy="2413000"/>
          </a:xfrm>
          <a:prstGeom prst="roundRect">
            <a:avLst>
              <a:gd name="adj" fmla="val 6315"/>
            </a:avLst>
          </a:prstGeom>
          <a:solidFill>
            <a:srgbClr val="EEF5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3683000"/>
            <a:ext cx="355600" cy="355600"/>
          </a:xfrm>
          <a:prstGeom prst="rect">
            <a:avLst/>
          </a:prstGeom>
        </p:spPr>
      </p:pic>
      <p:sp>
        <p:nvSpPr>
          <p:cNvPr name="AutoShape 23" id="23"/>
          <p:cNvSpPr txBox="true"/>
          <p:nvPr/>
        </p:nvSpPr>
        <p:spPr>
          <a:xfrm rot="0" flipH="false" flipV="false">
            <a:off x="7086600" y="3683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3D2A"/>
                </a:solidFill>
                <a:latin typeface="Noto Sans SC"/>
                <a:ea typeface="Noto Sans SC"/>
                <a:cs typeface="Noto Sans SC"/>
                <a:sym typeface="Noto Sans SC"/>
              </a:rPr>
              <a:t>我们要做的事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6604000" y="4191000"/>
            <a:ext cx="431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41666"/>
              </a:lnSpc>
              <a:buClr>
                <a:srgbClr val="28372D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28372D"/>
                </a:solidFill>
                <a:latin typeface="Noto Sans SC"/>
                <a:ea typeface="Noto Sans SC"/>
                <a:cs typeface="Noto Sans SC"/>
                <a:sym typeface="Noto Sans SC"/>
              </a:rPr>
              <a:t>每一步记录都哈希上链</a:t>
            </a:r>
            <a:endParaRPr lang="en-US" sz="1100"/>
          </a:p>
          <a:p>
            <a:pPr algn="l" indent="-165100" marL="165100">
              <a:lnSpc>
                <a:spcPct val="141666"/>
              </a:lnSpc>
              <a:buClr>
                <a:srgbClr val="28372D"/>
              </a:buClr>
              <a:buChar char="•"/>
            </a:pPr>
            <a:r>
              <a:rPr lang="en-US" b="false" i="false" strike="noStrike" u="none" sz="1300">
                <a:solidFill>
                  <a:srgbClr val="28372D"/>
                </a:solidFill>
                <a:latin typeface="Noto Sans SC"/>
                <a:ea typeface="Noto Sans SC"/>
                <a:cs typeface="Noto Sans SC"/>
                <a:sym typeface="Noto Sans SC"/>
              </a:rPr>
              <a:t>扫码看真时间、真地点、真经手人</a:t>
            </a:r>
          </a:p>
          <a:p>
            <a:pPr algn="l" indent="-165100" marL="165100">
              <a:lnSpc>
                <a:spcPct val="141666"/>
              </a:lnSpc>
              <a:buClr>
                <a:srgbClr val="28372D"/>
              </a:buClr>
              <a:buChar char="•"/>
            </a:pPr>
            <a:r>
              <a:rPr lang="en-US" b="false" i="false" strike="noStrike" u="none" sz="1300">
                <a:solidFill>
                  <a:srgbClr val="28372D"/>
                </a:solidFill>
                <a:latin typeface="Noto Sans SC"/>
                <a:ea typeface="Noto Sans SC"/>
                <a:cs typeface="Noto Sans SC"/>
                <a:sym typeface="Noto Sans SC"/>
              </a:rPr>
              <a:t>农户、销售、物流同平台对接</a:t>
            </a:r>
          </a:p>
          <a:p>
            <a:pPr algn="l" indent="-165100" marL="165100">
              <a:lnSpc>
                <a:spcPct val="141666"/>
              </a:lnSpc>
              <a:buClr>
                <a:srgbClr val="28372D"/>
              </a:buClr>
              <a:buChar char="•"/>
            </a:pPr>
            <a:r>
              <a:rPr lang="en-US" b="false" i="false" strike="noStrike" u="none" sz="1300">
                <a:solidFill>
                  <a:srgbClr val="28372D"/>
                </a:solidFill>
                <a:latin typeface="Noto Sans SC"/>
                <a:ea typeface="Noto Sans SC"/>
                <a:cs typeface="Noto Sans SC"/>
                <a:sym typeface="Noto Sans SC"/>
              </a:rPr>
              <a:t>交易、物流、咨询线上闭环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52400" cy="6858000"/>
          </a:xfrm>
          <a:prstGeom prst="roundRect">
            <a:avLst>
              <a:gd name="adj" fmla="val 0"/>
            </a:avLst>
          </a:prstGeom>
          <a:solidFill>
            <a:srgbClr val="3F73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F7352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功能介绍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F3D2A"/>
                </a:solidFill>
                <a:latin typeface="Noto Sans SC"/>
                <a:ea typeface="Noto Sans SC"/>
                <a:cs typeface="Noto Sans SC"/>
                <a:sym typeface="Noto Sans SC"/>
              </a:rPr>
              <a:t>一条鱼的旅程：从养殖到餐桌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1905000" cy="2159000"/>
          </a:xfrm>
          <a:prstGeom prst="roundRect">
            <a:avLst>
              <a:gd name="adj" fmla="val 9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1E8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33500" y="2413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762000" y="3048000"/>
            <a:ext cx="190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8322D"/>
                </a:solidFill>
                <a:latin typeface="Noto Sans SC"/>
                <a:ea typeface="Noto Sans SC"/>
                <a:cs typeface="Noto Sans SC"/>
                <a:sym typeface="Noto Sans SC"/>
              </a:rPr>
              <a:t>1 养殖记录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62000" y="3429000"/>
            <a:ext cx="190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E786E"/>
                </a:solidFill>
                <a:latin typeface="Noto Sans SC"/>
                <a:ea typeface="Noto Sans SC"/>
                <a:cs typeface="Noto Sans SC"/>
                <a:sym typeface="Noto Sans SC"/>
              </a:rPr>
              <a:t>用药/施肥/捕捞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6E786E"/>
                </a:solidFill>
                <a:latin typeface="Noto Sans SC"/>
                <a:ea typeface="Noto Sans SC"/>
                <a:cs typeface="Noto Sans SC"/>
                <a:sym typeface="Noto Sans SC"/>
              </a:rPr>
              <a:t>农户实名录入</a:t>
            </a:r>
          </a:p>
        </p:txBody>
      </p:sp>
      <p:cxnSp>
        <p:nvCxnSpPr>
          <p:cNvPr name="Connector 9" id="9"/>
          <p:cNvCxnSpPr/>
          <p:nvPr/>
        </p:nvCxnSpPr>
        <p:spPr>
          <a:xfrm rot="-114549" flipH="false" flipV="false">
            <a:off x="2730606" y="3232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3F735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3175000" y="2159000"/>
            <a:ext cx="1905000" cy="2159000"/>
          </a:xfrm>
          <a:prstGeom prst="roundRect">
            <a:avLst>
              <a:gd name="adj" fmla="val 9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1E8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746500" y="24130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 txBox="true"/>
          <p:nvPr/>
        </p:nvSpPr>
        <p:spPr>
          <a:xfrm rot="0" flipH="false" flipV="false">
            <a:off x="3175000" y="3048000"/>
            <a:ext cx="190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8322D"/>
                </a:solidFill>
                <a:latin typeface="Noto Sans SC"/>
                <a:ea typeface="Noto Sans SC"/>
                <a:cs typeface="Noto Sans SC"/>
                <a:sym typeface="Noto Sans SC"/>
              </a:rPr>
              <a:t>2 批次入库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3175000" y="3429000"/>
            <a:ext cx="190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E786E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生成溯源码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6E786E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数据哈希上链</a:t>
            </a:r>
          </a:p>
        </p:txBody>
      </p:sp>
      <p:cxnSp>
        <p:nvCxnSpPr>
          <p:cNvPr name="Connector 14" id="14"/>
          <p:cNvCxnSpPr/>
          <p:nvPr/>
        </p:nvCxnSpPr>
        <p:spPr>
          <a:xfrm rot="-114549" flipH="false" flipV="false">
            <a:off x="5143606" y="3232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3F735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5588000" y="2159000"/>
            <a:ext cx="1905000" cy="2159000"/>
          </a:xfrm>
          <a:prstGeom prst="roundRect">
            <a:avLst>
              <a:gd name="adj" fmla="val 9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1E8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159500" y="24130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 txBox="true"/>
          <p:nvPr/>
        </p:nvSpPr>
        <p:spPr>
          <a:xfrm rot="0" flipH="false" flipV="false">
            <a:off x="5588000" y="3048000"/>
            <a:ext cx="190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8322D"/>
                </a:solidFill>
                <a:latin typeface="Noto Sans SC"/>
                <a:ea typeface="Noto Sans SC"/>
                <a:cs typeface="Noto Sans SC"/>
                <a:sym typeface="Noto Sans SC"/>
              </a:rPr>
              <a:t>3 冷链物流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588000" y="3429000"/>
            <a:ext cx="190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E786E"/>
                </a:solidFill>
                <a:latin typeface="Noto Sans SC"/>
                <a:ea typeface="Noto Sans SC"/>
                <a:cs typeface="Noto Sans SC"/>
                <a:sym typeface="Noto Sans SC"/>
              </a:rPr>
              <a:t>温度自动上报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6E786E"/>
                </a:solidFill>
                <a:latin typeface="Noto Sans SC"/>
                <a:ea typeface="Noto Sans SC"/>
                <a:cs typeface="Noto Sans SC"/>
                <a:sym typeface="Noto Sans SC"/>
              </a:rPr>
              <a:t>GPS 轨迹</a:t>
            </a:r>
          </a:p>
        </p:txBody>
      </p:sp>
      <p:cxnSp>
        <p:nvCxnSpPr>
          <p:cNvPr name="Connector 19" id="19"/>
          <p:cNvCxnSpPr/>
          <p:nvPr/>
        </p:nvCxnSpPr>
        <p:spPr>
          <a:xfrm rot="-114549" flipH="false" flipV="false">
            <a:off x="7556606" y="3232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3F735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001000" y="2159000"/>
            <a:ext cx="1905000" cy="2159000"/>
          </a:xfrm>
          <a:prstGeom prst="roundRect">
            <a:avLst>
              <a:gd name="adj" fmla="val 9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1E8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572500" y="2413000"/>
            <a:ext cx="508000" cy="508000"/>
          </a:xfrm>
          <a:prstGeom prst="rect">
            <a:avLst/>
          </a:prstGeom>
        </p:spPr>
      </p:pic>
      <p:sp>
        <p:nvSpPr>
          <p:cNvPr name="AutoShape 22" id="22"/>
          <p:cNvSpPr txBox="true"/>
          <p:nvPr/>
        </p:nvSpPr>
        <p:spPr>
          <a:xfrm rot="0" flipH="false" flipV="false">
            <a:off x="8001000" y="3048000"/>
            <a:ext cx="190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8322D"/>
                </a:solidFill>
                <a:latin typeface="Noto Sans SC"/>
                <a:ea typeface="Noto Sans SC"/>
                <a:cs typeface="Noto Sans SC"/>
                <a:sym typeface="Noto Sans SC"/>
              </a:rPr>
              <a:t>4 零售上架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8001000" y="3429000"/>
            <a:ext cx="190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E786E"/>
                </a:solidFill>
                <a:latin typeface="Noto Sans SC"/>
                <a:ea typeface="Noto Sans SC"/>
                <a:cs typeface="Noto Sans SC"/>
                <a:sym typeface="Noto Sans SC"/>
              </a:rPr>
              <a:t>商品挂商城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6E786E"/>
                </a:solidFill>
                <a:latin typeface="Noto Sans SC"/>
                <a:ea typeface="Noto Sans SC"/>
                <a:cs typeface="Noto Sans SC"/>
                <a:sym typeface="Noto Sans SC"/>
              </a:rPr>
              <a:t>销售记录上链</a:t>
            </a:r>
          </a:p>
        </p:txBody>
      </p:sp>
      <p:cxnSp>
        <p:nvCxnSpPr>
          <p:cNvPr name="Connector 24" id="24"/>
          <p:cNvCxnSpPr/>
          <p:nvPr/>
        </p:nvCxnSpPr>
        <p:spPr>
          <a:xfrm rot="-228844" flipH="false" flipV="false">
            <a:off x="9969711" y="3232150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F3D2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10223500" y="2159000"/>
            <a:ext cx="1778000" cy="2159000"/>
          </a:xfrm>
          <a:prstGeom prst="roundRect">
            <a:avLst>
              <a:gd name="adj" fmla="val 10000"/>
            </a:avLst>
          </a:prstGeom>
          <a:gradFill rotWithShape="true">
            <a:gsLst>
              <a:gs pos="0">
                <a:srgbClr val="1F3D2A">
                  <a:alpha val="100000"/>
                </a:srgbClr>
              </a:gs>
              <a:gs pos="100000">
                <a:srgbClr val="3F7352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731500" y="2413000"/>
            <a:ext cx="508000" cy="508000"/>
          </a:xfrm>
          <a:prstGeom prst="rect">
            <a:avLst/>
          </a:prstGeom>
        </p:spPr>
      </p:pic>
      <p:sp>
        <p:nvSpPr>
          <p:cNvPr name="AutoShape 27" id="27"/>
          <p:cNvSpPr txBox="true"/>
          <p:nvPr/>
        </p:nvSpPr>
        <p:spPr>
          <a:xfrm rot="0" flipH="false" flipV="false">
            <a:off x="10223500" y="3048000"/>
            <a:ext cx="177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 扫码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10223500" y="3429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DCEBDE"/>
                </a:solidFill>
                <a:latin typeface="Noto Sans SC"/>
                <a:ea typeface="Noto Sans SC"/>
                <a:cs typeface="Noto Sans SC"/>
                <a:sym typeface="Noto Sans SC"/>
              </a:rPr>
              <a:t>看全过程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DCEBDE"/>
                </a:solidFill>
                <a:latin typeface="Noto Sans SC"/>
                <a:ea typeface="Noto Sans SC"/>
                <a:cs typeface="Noto Sans SC"/>
                <a:sym typeface="Noto Sans SC"/>
              </a:rPr>
              <a:t>链上校验真伪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16000" y="4826000"/>
            <a:ext cx="10160000" cy="1143000"/>
          </a:xfrm>
          <a:prstGeom prst="roundRect">
            <a:avLst>
              <a:gd name="adj" fmla="val 13333"/>
            </a:avLst>
          </a:prstGeom>
          <a:solidFill>
            <a:srgbClr val="FFF8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1270000" y="5016500"/>
            <a:ext cx="965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47828"/>
                </a:solidFill>
                <a:latin typeface="Noto Sans SC"/>
                <a:ea typeface="Noto Sans SC"/>
                <a:cs typeface="Noto Sans SC"/>
                <a:sym typeface="Noto Sans SC"/>
              </a:rPr>
              <a:t>现场演示点</a:t>
            </a:r>
            <a:endParaRPr lang="en-US" sz="1100"/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1270000" y="53975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461E"/>
                </a:solidFill>
                <a:latin typeface="Noto Sans SC"/>
                <a:ea typeface="Noto Sans SC"/>
                <a:cs typeface="Noto Sans SC"/>
                <a:sym typeface="Noto Sans SC"/>
              </a:rPr>
              <a:t>现场用一条鲈鱼走完五环节 → 消费者扫码出溯源报告 → 故意篡改某环节，链上哈希校验立即失败、红色警告。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52400" cy="6858000"/>
          </a:xfrm>
          <a:prstGeom prst="roundRect">
            <a:avLst>
              <a:gd name="adj" fmla="val 0"/>
            </a:avLst>
          </a:prstGeom>
          <a:solidFill>
            <a:srgbClr val="3F73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508000"/>
            <a:ext cx="1016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F7352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功能介绍 · 系统实拍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8636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3D2A"/>
                </a:solidFill>
                <a:latin typeface="Noto Sans SC"/>
                <a:ea typeface="Noto Sans SC"/>
                <a:cs typeface="Noto Sans SC"/>
                <a:sym typeface="Noto Sans SC"/>
              </a:rPr>
              <a:t>安心商城首页：买得安心，卖得安心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62000" y="1651000"/>
            <a:ext cx="7112000" cy="4445000"/>
          </a:xfrm>
          <a:prstGeom prst="roundRect">
            <a:avLst>
              <a:gd name="adj" fmla="val 2857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762000" y="6197600"/>
            <a:ext cx="711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88278"/>
                </a:solidFill>
                <a:latin typeface="Noto Sans SC"/>
                <a:ea typeface="Noto Sans SC"/>
                <a:cs typeface="Noto Sans SC"/>
                <a:sym typeface="Noto Sans SC"/>
              </a:rPr>
              <a:t>图：系统首页 · 从田间到餐桌每一步可追溯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0" y="1651000"/>
            <a:ext cx="3175000" cy="1333500"/>
          </a:xfrm>
          <a:prstGeom prst="roundRect">
            <a:avLst>
              <a:gd name="adj" fmla="val 952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B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483600" y="18796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 txBox="true"/>
          <p:nvPr/>
        </p:nvSpPr>
        <p:spPr>
          <a:xfrm rot="0" flipH="false" flipV="false">
            <a:off x="8953500" y="1879600"/>
            <a:ext cx="228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3D2A"/>
                </a:solidFill>
                <a:latin typeface="Noto Sans SC"/>
                <a:ea typeface="Noto Sans SC"/>
                <a:cs typeface="Noto Sans SC"/>
                <a:sym typeface="Noto Sans SC"/>
              </a:rPr>
              <a:t>商城交易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483600" y="2286000"/>
            <a:ext cx="2794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A645A"/>
                </a:solidFill>
                <a:latin typeface="Noto Sans SC"/>
                <a:ea typeface="Noto Sans SC"/>
                <a:cs typeface="Noto Sans SC"/>
                <a:sym typeface="Noto Sans SC"/>
              </a:rPr>
              <a:t>多角色上架 · 购物车下单 · 农户直连销售商进货 · 物流轨迹可查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255000" y="3149600"/>
            <a:ext cx="3175000" cy="1333500"/>
          </a:xfrm>
          <a:prstGeom prst="roundRect">
            <a:avLst>
              <a:gd name="adj" fmla="val 952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B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483600" y="33782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 txBox="true"/>
          <p:nvPr/>
        </p:nvSpPr>
        <p:spPr>
          <a:xfrm rot="0" flipH="false" flipV="false">
            <a:off x="8953500" y="3378200"/>
            <a:ext cx="228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3D2A"/>
                </a:solidFill>
                <a:latin typeface="Noto Sans SC"/>
                <a:ea typeface="Noto Sans SC"/>
                <a:cs typeface="Noto Sans SC"/>
                <a:sym typeface="Noto Sans SC"/>
              </a:rPr>
              <a:t>消息沟通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8483600" y="3784600"/>
            <a:ext cx="2794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A645A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用户与商家站内对话 · 下单自动确认 · 订单问题一键咨询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4648200"/>
            <a:ext cx="3175000" cy="1333500"/>
          </a:xfrm>
          <a:prstGeom prst="roundRect">
            <a:avLst>
              <a:gd name="adj" fmla="val 9523"/>
            </a:avLst>
          </a:prstGeom>
          <a:gradFill rotWithShape="true">
            <a:gsLst>
              <a:gs pos="0">
                <a:srgbClr val="1F3D2A">
                  <a:alpha val="100000"/>
                </a:srgbClr>
              </a:gs>
              <a:gs pos="100000">
                <a:srgbClr val="3F7352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83600" y="48768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 txBox="true"/>
          <p:nvPr/>
        </p:nvSpPr>
        <p:spPr>
          <a:xfrm rot="0" flipH="false" flipV="false">
            <a:off x="8953500" y="4876800"/>
            <a:ext cx="228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D278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智能助手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483600" y="5283200"/>
            <a:ext cx="2794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CEBDE"/>
                </a:solidFill>
                <a:latin typeface="Noto Sans SC"/>
                <a:ea typeface="Noto Sans SC"/>
                <a:cs typeface="Noto Sans SC"/>
                <a:sym typeface="Noto Sans SC"/>
              </a:rPr>
              <a:t>悬浮球可拖动 · 接入 DeepSeek · Function Calling 查订单/物流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A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52400" cy="6858000"/>
          </a:xfrm>
          <a:prstGeom prst="roundRect">
            <a:avLst>
              <a:gd name="adj" fmla="val 0"/>
            </a:avLst>
          </a:prstGeom>
          <a:solidFill>
            <a:srgbClr val="3F73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444500"/>
            <a:ext cx="1016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F7352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数据库设计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762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3D2A"/>
                </a:solidFill>
                <a:latin typeface="Noto Sans SC"/>
                <a:ea typeface="Noto Sans SC"/>
                <a:cs typeface="Noto Sans SC"/>
                <a:sym typeface="Noto Sans SC"/>
              </a:rPr>
              <a:t>ER 图：批次 — 环节 — 记录 三层模型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2032000" cy="165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3F735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2032000" cy="330200"/>
          </a:xfrm>
          <a:prstGeom prst="roundRect">
            <a:avLst>
              <a:gd name="adj" fmla="val 23076"/>
            </a:avLst>
          </a:prstGeom>
          <a:solidFill>
            <a:srgbClr val="3F73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762000" y="1689100"/>
            <a:ext cx="203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users 用户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889000" y="2057400"/>
            <a:ext cx="1778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B47828"/>
                </a:solidFill>
                <a:latin typeface="Noto Sans SC"/>
                <a:ea typeface="Noto Sans SC"/>
                <a:cs typeface="Noto Sans SC"/>
                <a:sym typeface="Noto Sans SC"/>
              </a:rPr>
              <a:t>PK</a:t>
            </a:r>
            <a:r>
              <a:rPr lang="en-US" b="false" i="false" strike="noStrike" u="none" sz="1000">
                <a:solidFill>
                  <a:srgbClr val="323C32"/>
                </a:solidFill>
                <a:latin typeface="Noto Sans SC"/>
                <a:ea typeface="Noto Sans SC"/>
                <a:cs typeface="Noto Sans SC"/>
                <a:sym typeface="Noto Sans SC"/>
              </a:rPr>
              <a:t> id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323C32"/>
                </a:solidFill>
                <a:latin typeface="Noto Sans SC"/>
                <a:ea typeface="Noto Sans SC"/>
                <a:cs typeface="Noto Sans SC"/>
                <a:sym typeface="Noto Sans SC"/>
              </a:rPr>
              <a:t>username 账号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323C32"/>
                </a:solidFill>
                <a:latin typeface="Noto Sans SC"/>
                <a:ea typeface="Noto Sans SC"/>
                <a:cs typeface="Noto Sans SC"/>
                <a:sym typeface="Noto Sans SC"/>
              </a:rPr>
              <a:t>role 角色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323C32"/>
                </a:solidFill>
                <a:latin typeface="Noto Sans SC"/>
                <a:ea typeface="Noto Sans SC"/>
                <a:cs typeface="Noto Sans SC"/>
                <a:sym typeface="Noto Sans SC"/>
              </a:rPr>
              <a:t>phone 手机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937000"/>
            <a:ext cx="203200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3F735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937000"/>
            <a:ext cx="2032000" cy="330200"/>
          </a:xfrm>
          <a:prstGeom prst="roundRect">
            <a:avLst>
              <a:gd name="adj" fmla="val 23076"/>
            </a:avLst>
          </a:prstGeom>
          <a:solidFill>
            <a:srgbClr val="3F73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762000" y="3975100"/>
            <a:ext cx="203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products 商品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89000" y="4343400"/>
            <a:ext cx="1778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B47828"/>
                </a:solidFill>
                <a:latin typeface="Noto Sans SC"/>
                <a:ea typeface="Noto Sans SC"/>
                <a:cs typeface="Noto Sans SC"/>
                <a:sym typeface="Noto Sans SC"/>
              </a:rPr>
              <a:t>PK</a:t>
            </a:r>
            <a:r>
              <a:rPr lang="en-US" b="false" i="false" strike="noStrike" u="none" sz="1000">
                <a:solidFill>
                  <a:srgbClr val="323C32"/>
                </a:solidFill>
                <a:latin typeface="Noto Sans SC"/>
                <a:ea typeface="Noto Sans SC"/>
                <a:cs typeface="Noto Sans SC"/>
                <a:sym typeface="Noto Sans SC"/>
              </a:rPr>
              <a:t> id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000">
                <a:solidFill>
                  <a:srgbClr val="B47828"/>
                </a:solidFill>
                <a:latin typeface="Noto Sans SC"/>
                <a:ea typeface="Noto Sans SC"/>
                <a:cs typeface="Noto Sans SC"/>
                <a:sym typeface="Noto Sans SC"/>
              </a:rPr>
              <a:t>FK</a:t>
            </a:r>
            <a:r>
              <a:rPr lang="en-US" b="false" i="false" strike="noStrike" u="none" sz="1000">
                <a:solidFill>
                  <a:srgbClr val="323C32"/>
                </a:solidFill>
                <a:latin typeface="Noto Sans SC"/>
                <a:ea typeface="Noto Sans SC"/>
                <a:cs typeface="Noto Sans SC"/>
                <a:sym typeface="Noto Sans SC"/>
              </a:rPr>
              <a:t> seller_id → users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323C32"/>
                </a:solidFill>
                <a:latin typeface="Noto Sans SC"/>
                <a:ea typeface="Noto Sans SC"/>
                <a:cs typeface="Noto Sans SC"/>
                <a:sym typeface="Noto Sans SC"/>
              </a:rPr>
              <a:t>name / price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323C32"/>
                </a:solidFill>
                <a:latin typeface="Noto Sans SC"/>
                <a:ea typeface="Noto Sans SC"/>
                <a:cs typeface="Noto Sans SC"/>
                <a:sym typeface="Noto Sans SC"/>
              </a:rPr>
              <a:t>stock / status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83000" y="2730500"/>
            <a:ext cx="2159000" cy="1651000"/>
          </a:xfrm>
          <a:prstGeom prst="roundRect">
            <a:avLst>
              <a:gd name="adj" fmla="val 4615"/>
            </a:avLst>
          </a:prstGeom>
          <a:gradFill rotWithShape="true">
            <a:gsLst>
              <a:gs pos="0">
                <a:srgbClr val="1F3D2A">
                  <a:alpha val="100000"/>
                </a:srgbClr>
              </a:gs>
              <a:gs pos="100000">
                <a:srgbClr val="3F7352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3683000" y="2794000"/>
            <a:ext cx="215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D278"/>
                </a:solidFill>
                <a:latin typeface="Noto Sans SC"/>
                <a:ea typeface="Noto Sans SC"/>
                <a:cs typeface="Noto Sans SC"/>
                <a:sym typeface="Noto Sans SC"/>
              </a:rPr>
              <a:t>batches 批次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3810000" y="3149600"/>
            <a:ext cx="1905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FFD278"/>
                </a:solidFill>
                <a:latin typeface="Noto Sans SC"/>
                <a:ea typeface="Noto Sans SC"/>
                <a:cs typeface="Noto Sans SC"/>
                <a:sym typeface="Noto Sans SC"/>
              </a:rPr>
              <a:t>PK</a:t>
            </a:r>
            <a:r>
              <a:rPr lang="en-US" b="false" i="false" strike="noStrike" u="none" sz="1000">
                <a:solidFill>
                  <a:srgbClr val="E6F0E8"/>
                </a:solidFill>
                <a:latin typeface="Noto Sans SC"/>
                <a:ea typeface="Noto Sans SC"/>
                <a:cs typeface="Noto Sans SC"/>
                <a:sym typeface="Noto Sans SC"/>
              </a:rPr>
              <a:t> id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E6F0E8"/>
                </a:solidFill>
                <a:latin typeface="Noto Sans SC"/>
                <a:ea typeface="Noto Sans SC"/>
                <a:cs typeface="Noto Sans SC"/>
                <a:sym typeface="Noto Sans SC"/>
              </a:rPr>
              <a:t>trace_code 溯源码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000">
                <a:solidFill>
                  <a:srgbClr val="FFD278"/>
                </a:solidFill>
                <a:latin typeface="Noto Sans SC"/>
                <a:ea typeface="Noto Sans SC"/>
                <a:cs typeface="Noto Sans SC"/>
                <a:sym typeface="Noto Sans SC"/>
              </a:rPr>
              <a:t>FK</a:t>
            </a:r>
            <a:r>
              <a:rPr lang="en-US" b="false" i="false" strike="noStrike" u="none" sz="1000">
                <a:solidFill>
                  <a:srgbClr val="E6F0E8"/>
                </a:solidFill>
                <a:latin typeface="Noto Sans SC"/>
                <a:ea typeface="Noto Sans SC"/>
                <a:cs typeface="Noto Sans SC"/>
                <a:sym typeface="Noto Sans SC"/>
              </a:rPr>
              <a:t> farmer_id → users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000">
                <a:solidFill>
                  <a:srgbClr val="FFD278"/>
                </a:solidFill>
                <a:latin typeface="Noto Sans SC"/>
                <a:ea typeface="Noto Sans SC"/>
                <a:cs typeface="Noto Sans SC"/>
                <a:sym typeface="Noto Sans SC"/>
              </a:rPr>
              <a:t>FK</a:t>
            </a:r>
            <a:r>
              <a:rPr lang="en-US" b="false" i="false" strike="noStrike" u="none" sz="1000">
                <a:solidFill>
                  <a:srgbClr val="E6F0E8"/>
                </a:solidFill>
                <a:latin typeface="Noto Sans SC"/>
                <a:ea typeface="Noto Sans SC"/>
                <a:cs typeface="Noto Sans SC"/>
                <a:sym typeface="Noto Sans SC"/>
              </a:rPr>
              <a:t> product_id → products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31000" y="1778000"/>
            <a:ext cx="2032000" cy="1460500"/>
          </a:xfrm>
          <a:prstGeom prst="roundRect">
            <a:avLst>
              <a:gd name="adj" fmla="val 5217"/>
            </a:avLst>
          </a:prstGeom>
          <a:solidFill>
            <a:srgbClr val="FFF8E1">
              <a:alpha val="100000"/>
            </a:srgbClr>
          </a:solidFill>
          <a:ln w="25400" cmpd="sng" cap="flat">
            <a:solidFill>
              <a:srgbClr val="C88C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31000" y="1778000"/>
            <a:ext cx="2032000" cy="330200"/>
          </a:xfrm>
          <a:prstGeom prst="roundRect">
            <a:avLst>
              <a:gd name="adj" fmla="val 23076"/>
            </a:avLst>
          </a:prstGeom>
          <a:solidFill>
            <a:srgbClr val="C88C3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731000" y="1816100"/>
            <a:ext cx="203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stages 环节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858000" y="2159000"/>
            <a:ext cx="177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96641E"/>
                </a:solidFill>
                <a:latin typeface="Noto Sans SC"/>
                <a:ea typeface="Noto Sans SC"/>
                <a:cs typeface="Noto Sans SC"/>
                <a:sym typeface="Noto Sans SC"/>
              </a:rPr>
              <a:t>PK</a:t>
            </a:r>
            <a:r>
              <a:rPr lang="en-US" b="false" i="false" strike="noStrike" u="none" sz="1000">
                <a:solidFill>
                  <a:srgbClr val="503C1E"/>
                </a:solidFill>
                <a:latin typeface="Noto Sans SC"/>
                <a:ea typeface="Noto Sans SC"/>
                <a:cs typeface="Noto Sans SC"/>
                <a:sym typeface="Noto Sans SC"/>
              </a:rPr>
              <a:t> id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000">
                <a:solidFill>
                  <a:srgbClr val="96641E"/>
                </a:solidFill>
                <a:latin typeface="Noto Sans SC"/>
                <a:ea typeface="Noto Sans SC"/>
                <a:cs typeface="Noto Sans SC"/>
                <a:sym typeface="Noto Sans SC"/>
              </a:rPr>
              <a:t>FK</a:t>
            </a:r>
            <a:r>
              <a:rPr lang="en-US" b="false" i="false" strike="noStrike" u="none" sz="1000">
                <a:solidFill>
                  <a:srgbClr val="503C1E"/>
                </a:solidFill>
                <a:latin typeface="Noto Sans SC"/>
                <a:ea typeface="Noto Sans SC"/>
                <a:cs typeface="Noto Sans SC"/>
                <a:sym typeface="Noto Sans SC"/>
              </a:rPr>
              <a:t> batch_id → batches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503C1E"/>
                </a:solidFill>
                <a:latin typeface="Noto Sans SC"/>
                <a:ea typeface="Noto Sans SC"/>
                <a:cs typeface="Noto Sans SC"/>
                <a:sym typeface="Noto Sans SC"/>
              </a:rPr>
              <a:t>stage_type 类型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0" y="1778000"/>
            <a:ext cx="2159000" cy="1778000"/>
          </a:xfrm>
          <a:prstGeom prst="roundRect">
            <a:avLst>
              <a:gd name="adj" fmla="val 4285"/>
            </a:avLst>
          </a:prstGeom>
          <a:solidFill>
            <a:srgbClr val="FFF8E1">
              <a:alpha val="100000"/>
            </a:srgbClr>
          </a:solidFill>
          <a:ln w="25400" cmpd="sng" cap="flat">
            <a:solidFill>
              <a:srgbClr val="C88C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525000" y="1778000"/>
            <a:ext cx="2159000" cy="330200"/>
          </a:xfrm>
          <a:prstGeom prst="roundRect">
            <a:avLst>
              <a:gd name="adj" fmla="val 23076"/>
            </a:avLst>
          </a:prstGeom>
          <a:solidFill>
            <a:srgbClr val="C88C3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9525000" y="18161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records 记录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9652000" y="2159000"/>
            <a:ext cx="1905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96641E"/>
                </a:solidFill>
                <a:latin typeface="Noto Sans SC"/>
                <a:ea typeface="Noto Sans SC"/>
                <a:cs typeface="Noto Sans SC"/>
                <a:sym typeface="Noto Sans SC"/>
              </a:rPr>
              <a:t>PK</a:t>
            </a:r>
            <a:r>
              <a:rPr lang="en-US" b="false" i="false" strike="noStrike" u="none" sz="1000">
                <a:solidFill>
                  <a:srgbClr val="503C1E"/>
                </a:solidFill>
                <a:latin typeface="Noto Sans SC"/>
                <a:ea typeface="Noto Sans SC"/>
                <a:cs typeface="Noto Sans SC"/>
                <a:sym typeface="Noto Sans SC"/>
              </a:rPr>
              <a:t> id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000">
                <a:solidFill>
                  <a:srgbClr val="96641E"/>
                </a:solidFill>
                <a:latin typeface="Noto Sans SC"/>
                <a:ea typeface="Noto Sans SC"/>
                <a:cs typeface="Noto Sans SC"/>
                <a:sym typeface="Noto Sans SC"/>
              </a:rPr>
              <a:t>FK</a:t>
            </a:r>
            <a:r>
              <a:rPr lang="en-US" b="false" i="false" strike="noStrike" u="none" sz="1000">
                <a:solidFill>
                  <a:srgbClr val="503C1E"/>
                </a:solidFill>
                <a:latin typeface="Noto Sans SC"/>
                <a:ea typeface="Noto Sans SC"/>
                <a:cs typeface="Noto Sans SC"/>
                <a:sym typeface="Noto Sans SC"/>
              </a:rPr>
              <a:t> stage_id → stages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503C1E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 内容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503C1E"/>
                </a:solidFill>
                <a:latin typeface="Noto Sans SC"/>
                <a:ea typeface="Noto Sans SC"/>
                <a:cs typeface="Noto Sans SC"/>
                <a:sym typeface="Noto Sans SC"/>
              </a:rPr>
              <a:t>data_hash 哈希上链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731000" y="4064000"/>
            <a:ext cx="2032000" cy="127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3F735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731000" y="4064000"/>
            <a:ext cx="2032000" cy="330200"/>
          </a:xfrm>
          <a:prstGeom prst="roundRect">
            <a:avLst>
              <a:gd name="adj" fmla="val 23076"/>
            </a:avLst>
          </a:prstGeom>
          <a:solidFill>
            <a:srgbClr val="3F73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6731000" y="4102100"/>
            <a:ext cx="203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orders 订单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6858000" y="4445000"/>
            <a:ext cx="177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B47828"/>
                </a:solidFill>
                <a:latin typeface="Noto Sans SC"/>
                <a:ea typeface="Noto Sans SC"/>
                <a:cs typeface="Noto Sans SC"/>
                <a:sym typeface="Noto Sans SC"/>
              </a:rPr>
              <a:t>PK</a:t>
            </a:r>
            <a:r>
              <a:rPr lang="en-US" b="false" i="false" strike="noStrike" u="none" sz="1000">
                <a:solidFill>
                  <a:srgbClr val="323C32"/>
                </a:solidFill>
                <a:latin typeface="Noto Sans SC"/>
                <a:ea typeface="Noto Sans SC"/>
                <a:cs typeface="Noto Sans SC"/>
                <a:sym typeface="Noto Sans SC"/>
              </a:rPr>
              <a:t> id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000">
                <a:solidFill>
                  <a:srgbClr val="B47828"/>
                </a:solidFill>
                <a:latin typeface="Noto Sans SC"/>
                <a:ea typeface="Noto Sans SC"/>
                <a:cs typeface="Noto Sans SC"/>
                <a:sym typeface="Noto Sans SC"/>
              </a:rPr>
              <a:t>FK</a:t>
            </a:r>
            <a:r>
              <a:rPr lang="en-US" b="false" i="false" strike="noStrike" u="none" sz="1000">
                <a:solidFill>
                  <a:srgbClr val="323C32"/>
                </a:solidFill>
                <a:latin typeface="Noto Sans SC"/>
                <a:ea typeface="Noto Sans SC"/>
                <a:cs typeface="Noto Sans SC"/>
                <a:sym typeface="Noto Sans SC"/>
              </a:rPr>
              <a:t> buyer_id / seller_id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323C32"/>
                </a:solidFill>
                <a:latin typeface="Noto Sans SC"/>
                <a:ea typeface="Noto Sans SC"/>
                <a:cs typeface="Noto Sans SC"/>
                <a:sym typeface="Noto Sans SC"/>
              </a:rPr>
              <a:t>status 状态</a:t>
            </a:r>
          </a:p>
        </p:txBody>
      </p:sp>
      <p:cxnSp>
        <p:nvCxnSpPr>
          <p:cNvPr name="Connector 28" id="28"/>
          <p:cNvCxnSpPr/>
          <p:nvPr/>
        </p:nvCxnSpPr>
        <p:spPr>
          <a:xfrm rot="2398791" flipH="false" flipV="false">
            <a:off x="2653085" y="2851172"/>
            <a:ext cx="117088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3F735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29" id="29"/>
          <p:cNvCxnSpPr/>
          <p:nvPr/>
        </p:nvCxnSpPr>
        <p:spPr>
          <a:xfrm rot="-2734725" flipH="false" flipV="false">
            <a:off x="2609905" y="4184627"/>
            <a:ext cx="125723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3F735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30" id="30"/>
          <p:cNvCxnSpPr/>
          <p:nvPr/>
        </p:nvCxnSpPr>
        <p:spPr>
          <a:xfrm rot="-2608720" flipH="false" flipV="false">
            <a:off x="5679941" y="2882877"/>
            <a:ext cx="121316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8C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31" id="31"/>
          <p:cNvCxnSpPr/>
          <p:nvPr/>
        </p:nvCxnSpPr>
        <p:spPr>
          <a:xfrm rot="228725" flipH="false" flipV="false">
            <a:off x="8761732" y="2501904"/>
            <a:ext cx="76464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8C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32" id="32"/>
          <p:cNvCxnSpPr/>
          <p:nvPr/>
        </p:nvCxnSpPr>
        <p:spPr>
          <a:xfrm rot="-121940" flipH="false" flipV="false">
            <a:off x="2792986" y="4629150"/>
            <a:ext cx="393904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F7352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762000" y="5778500"/>
            <a:ext cx="10922000" cy="698500"/>
          </a:xfrm>
          <a:prstGeom prst="roundRect">
            <a:avLst>
              <a:gd name="adj" fmla="val 1454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B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 txBox="true"/>
          <p:nvPr/>
        </p:nvSpPr>
        <p:spPr>
          <a:xfrm rot="0" flipH="false" flipV="false">
            <a:off x="952500" y="5905500"/>
            <a:ext cx="1054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1F3D2A"/>
                </a:solidFill>
                <a:latin typeface="Noto Sans SC"/>
                <a:ea typeface="Noto Sans SC"/>
                <a:cs typeface="Noto Sans SC"/>
                <a:sym typeface="Noto Sans SC"/>
              </a:rPr>
              <a:t>阅读方式：</a:t>
            </a:r>
            <a:r>
              <a:rPr lang="en-US" b="false" i="false" strike="noStrike" u="none" sz="1100">
                <a:solidFill>
                  <a:srgbClr val="3C463C"/>
                </a:solidFill>
                <a:latin typeface="Noto Sans SC"/>
                <a:ea typeface="Noto Sans SC"/>
                <a:cs typeface="Noto Sans SC"/>
                <a:sym typeface="Noto Sans SC"/>
              </a:rPr>
              <a:t> users(1) → batches(N) · products(N:1) batches · batches(1) → stages(N) → records(N) · 每条 record 的 data_hash 上链，扫码时重算哈希比对链上值即验真。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52400" cy="6858000"/>
          </a:xfrm>
          <a:prstGeom prst="roundRect">
            <a:avLst>
              <a:gd name="adj" fmla="val 0"/>
            </a:avLst>
          </a:prstGeom>
          <a:solidFill>
            <a:srgbClr val="FFB4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88C32"/>
                </a:solidFill>
                <a:latin typeface="Noto Sans SC"/>
                <a:ea typeface="Noto Sans SC"/>
                <a:cs typeface="Noto Sans SC"/>
                <a:sym typeface="Noto Sans SC"/>
              </a:rPr>
              <a:t>04 · 系统架构与技术栈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F3D2A"/>
                </a:solidFill>
                <a:latin typeface="Noto Sans SC"/>
                <a:ea typeface="Noto Sans SC"/>
                <a:cs typeface="Noto Sans SC"/>
                <a:sym typeface="Noto Sans SC"/>
              </a:rPr>
              <a:t>三层架构，职责清晰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68500"/>
            <a:ext cx="10160000" cy="889000"/>
          </a:xfrm>
          <a:prstGeom prst="roundRect">
            <a:avLst>
              <a:gd name="adj" fmla="val 14285"/>
            </a:avLst>
          </a:prstGeom>
          <a:solidFill>
            <a:srgbClr val="EEF5EE">
              <a:alpha val="100000"/>
            </a:srgbClr>
          </a:solidFill>
          <a:ln w="12700" cmpd="sng" cap="flat">
            <a:solidFill>
              <a:srgbClr val="3F735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68500"/>
            <a:ext cx="1524000" cy="889000"/>
          </a:xfrm>
          <a:prstGeom prst="roundRect">
            <a:avLst>
              <a:gd name="adj" fmla="val 14285"/>
            </a:avLst>
          </a:prstGeom>
          <a:solidFill>
            <a:srgbClr val="3F73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68400" y="22606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1016000" y="2540000"/>
            <a:ext cx="152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表现层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2794000" y="2159000"/>
            <a:ext cx="812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8372D"/>
                </a:solidFill>
                <a:latin typeface="Noto Sans SC"/>
                <a:ea typeface="Noto Sans SC"/>
                <a:cs typeface="Noto Sans SC"/>
                <a:sym typeface="Noto Sans SC"/>
              </a:rPr>
              <a:t>Jinja2 模板 + 原生 JS ｜ 多角色登录 ｜ 溯源查询 ｜ 商城购物车 ｜ 订单消息 ｜ AI 悬浮球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048000"/>
            <a:ext cx="1016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3F735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048000"/>
            <a:ext cx="1524000" cy="1143000"/>
          </a:xfrm>
          <a:prstGeom prst="roundRect">
            <a:avLst>
              <a:gd name="adj" fmla="val 11111"/>
            </a:avLst>
          </a:prstGeom>
          <a:solidFill>
            <a:srgbClr val="1F3D2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168400" y="3365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 txBox="true"/>
          <p:nvPr/>
        </p:nvSpPr>
        <p:spPr>
          <a:xfrm rot="0" flipH="false" flipV="false">
            <a:off x="1016000" y="3746500"/>
            <a:ext cx="152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业务层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2794000" y="3238500"/>
            <a:ext cx="812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28372D"/>
                </a:solidFill>
                <a:latin typeface="Noto Sans SC"/>
                <a:ea typeface="Noto Sans SC"/>
                <a:cs typeface="Noto Sans SC"/>
                <a:sym typeface="Noto Sans SC"/>
              </a:rPr>
              <a:t>Flask 蓝图：auth 认证 · trace 溯源 · mall 商城 · panel 工作台 · admin 后台 · agent AI 助手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8372D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 Function Calling：自然语言 → 查订单 / 查物流 / 查溯源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381500"/>
            <a:ext cx="4826000" cy="1524000"/>
          </a:xfrm>
          <a:prstGeom prst="roundRect">
            <a:avLst>
              <a:gd name="adj" fmla="val 8333"/>
            </a:avLst>
          </a:prstGeom>
          <a:gradFill rotWithShape="true">
            <a:gsLst>
              <a:gs pos="0">
                <a:srgbClr val="1F3D2A">
                  <a:alpha val="100000"/>
                </a:srgbClr>
              </a:gs>
              <a:gs pos="100000">
                <a:srgbClr val="3F7352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270000" y="4572000"/>
            <a:ext cx="431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D27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270000" y="5016500"/>
            <a:ext cx="431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E6F0E8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8.0 — 业务明文数据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E6F0E8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本地模拟链 — 记录哈希防篡改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E6F0E8"/>
                </a:solidFill>
                <a:latin typeface="Noto Sans SC"/>
                <a:ea typeface="Noto Sans SC"/>
                <a:cs typeface="Noto Sans SC"/>
                <a:sym typeface="Noto Sans SC"/>
              </a:rPr>
              <a:t>内存缓存 — 加速扫码查询（模拟 Redis）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4381500"/>
            <a:ext cx="4826000" cy="1524000"/>
          </a:xfrm>
          <a:prstGeom prst="roundRect">
            <a:avLst>
              <a:gd name="adj" fmla="val 8333"/>
            </a:avLst>
          </a:prstGeom>
          <a:solidFill>
            <a:srgbClr val="FFF8E1">
              <a:alpha val="100000"/>
            </a:srgbClr>
          </a:solidFill>
          <a:ln w="12700" cmpd="sng" cap="flat">
            <a:solidFill>
              <a:srgbClr val="E6B45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604000" y="4572000"/>
            <a:ext cx="431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B4782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04000" y="5016500"/>
            <a:ext cx="431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64461E"/>
                </a:solidFill>
                <a:latin typeface="Noto Sans SC"/>
                <a:ea typeface="Noto Sans SC"/>
                <a:cs typeface="Noto Sans SC"/>
                <a:sym typeface="Noto Sans SC"/>
              </a:rPr>
              <a:t>后端：Python · Flask · PyMySQL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64461E"/>
                </a:solidFill>
                <a:latin typeface="Noto Sans SC"/>
                <a:ea typeface="Noto Sans SC"/>
                <a:cs typeface="Noto Sans SC"/>
                <a:sym typeface="Noto Sans SC"/>
              </a:rPr>
              <a:t>AI：DeepSeek deepseek-chat · Function Calling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64461E"/>
                </a:solidFill>
                <a:latin typeface="Noto Sans SC"/>
                <a:ea typeface="Noto Sans SC"/>
                <a:cs typeface="Noto Sans SC"/>
                <a:sym typeface="Noto Sans SC"/>
              </a:rPr>
              <a:t>前端：HTML / CSS / 原生 JavaScript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A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52400" cy="6858000"/>
          </a:xfrm>
          <a:prstGeom prst="roundRect">
            <a:avLst>
              <a:gd name="adj" fmla="val 0"/>
            </a:avLst>
          </a:prstGeom>
          <a:solidFill>
            <a:srgbClr val="FFB4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88C32"/>
                </a:solidFill>
                <a:latin typeface="Noto Sans SC"/>
                <a:ea typeface="Noto Sans SC"/>
                <a:cs typeface="Noto Sans SC"/>
                <a:sym typeface="Noto Sans SC"/>
              </a:rPr>
              <a:t>05 · 总结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F3D2A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我们做到了什么，还差什么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4826000" cy="3937000"/>
          </a:xfrm>
          <a:prstGeom prst="roundRect">
            <a:avLst>
              <a:gd name="adj" fmla="val 4516"/>
            </a:avLst>
          </a:prstGeom>
          <a:solidFill>
            <a:srgbClr val="EEF5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286000"/>
            <a:ext cx="457200" cy="457200"/>
          </a:xfrm>
          <a:prstGeom prst="ellipse">
            <a:avLst/>
          </a:prstGeom>
          <a:solidFill>
            <a:srgbClr val="3F73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270000" y="2286000"/>
            <a:ext cx="457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905000" y="23241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3D2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项目优势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270000" y="2984500"/>
            <a:ext cx="4318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58333"/>
              </a:lnSpc>
              <a:buClr>
                <a:srgbClr val="28372D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28372D"/>
                </a:solidFill>
                <a:latin typeface="Noto Sans SC"/>
                <a:ea typeface="Noto Sans SC"/>
                <a:cs typeface="Noto Sans SC"/>
                <a:sym typeface="Noto Sans SC"/>
              </a:rPr>
              <a:t>溯源 + 商城一体化，业务闭环完整</a:t>
            </a:r>
            <a:endParaRPr lang="en-US" sz="1100"/>
          </a:p>
          <a:p>
            <a:pPr algn="l" indent="-165100" marL="165100">
              <a:lnSpc>
                <a:spcPct val="158333"/>
              </a:lnSpc>
              <a:buClr>
                <a:srgbClr val="28372D"/>
              </a:buClr>
              <a:buChar char="•"/>
            </a:pPr>
            <a:r>
              <a:rPr lang="en-US" b="false" i="false" strike="noStrike" u="none" sz="1300">
                <a:solidFill>
                  <a:srgbClr val="28372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关键记录哈希上链，篡改可校验</a:t>
            </a:r>
          </a:p>
          <a:p>
            <a:pPr algn="l" indent="-165100" marL="165100">
              <a:lnSpc>
                <a:spcPct val="158333"/>
              </a:lnSpc>
              <a:buClr>
                <a:srgbClr val="28372D"/>
              </a:buClr>
              <a:buChar char="•"/>
            </a:pPr>
            <a:r>
              <a:rPr lang="en-US" b="false" i="false" strike="noStrike" u="none" sz="1300">
                <a:solidFill>
                  <a:srgbClr val="28372D"/>
                </a:solidFill>
                <a:latin typeface="Noto Sans SC"/>
                <a:ea typeface="Noto Sans SC"/>
                <a:cs typeface="Noto Sans SC"/>
                <a:sym typeface="Noto Sans SC"/>
              </a:rPr>
              <a:t>多角色分工清晰，各端只做本职</a:t>
            </a:r>
          </a:p>
          <a:p>
            <a:pPr algn="l" indent="-165100" marL="165100">
              <a:lnSpc>
                <a:spcPct val="158333"/>
              </a:lnSpc>
              <a:buClr>
                <a:srgbClr val="28372D"/>
              </a:buClr>
              <a:buChar char="•"/>
            </a:pPr>
            <a:r>
              <a:rPr lang="en-US" b="false" i="false" strike="noStrike" u="none" sz="1300">
                <a:solidFill>
                  <a:srgbClr val="28372D"/>
                </a:solidFill>
                <a:latin typeface="Noto Sans SC"/>
                <a:ea typeface="Noto Sans SC"/>
                <a:cs typeface="Noto Sans SC"/>
                <a:sym typeface="Noto Sans SC"/>
              </a:rPr>
              <a:t>站内消息 + AI 助手，体验完整</a:t>
            </a:r>
          </a:p>
          <a:p>
            <a:pPr algn="l" indent="-165100" marL="165100">
              <a:lnSpc>
                <a:spcPct val="158333"/>
              </a:lnSpc>
              <a:buClr>
                <a:srgbClr val="28372D"/>
              </a:buClr>
              <a:buChar char="•"/>
            </a:pPr>
            <a:r>
              <a:rPr lang="en-US" b="false" i="false" strike="noStrike" u="none" sz="1300">
                <a:solidFill>
                  <a:srgbClr val="28372D"/>
                </a:solidFill>
                <a:latin typeface="Noto Sans SC"/>
                <a:ea typeface="Noto Sans SC"/>
                <a:cs typeface="Noto Sans SC"/>
                <a:sym typeface="Noto Sans SC"/>
              </a:rPr>
              <a:t>真实 MySQL 落地，可演示可答辩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032000"/>
            <a:ext cx="4826000" cy="3937000"/>
          </a:xfrm>
          <a:prstGeom prst="roundRect">
            <a:avLst>
              <a:gd name="adj" fmla="val 4516"/>
            </a:avLst>
          </a:prstGeom>
          <a:solidFill>
            <a:srgbClr val="FCF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2286000"/>
            <a:ext cx="457200" cy="457200"/>
          </a:xfrm>
          <a:prstGeom prst="ellipse">
            <a:avLst/>
          </a:prstGeom>
          <a:solidFill>
            <a:srgbClr val="BE504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604000" y="2286000"/>
            <a:ext cx="457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!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239000" y="23241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E5046"/>
                </a:solidFill>
                <a:latin typeface="Noto Sans SC"/>
                <a:ea typeface="Noto Sans SC"/>
                <a:cs typeface="Noto Sans SC"/>
                <a:sym typeface="Noto Sans SC"/>
              </a:rPr>
              <a:t>存在不足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604000" y="2984500"/>
            <a:ext cx="4318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58333"/>
              </a:lnSpc>
              <a:buClr>
                <a:srgbClr val="50322D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50322D"/>
                </a:solidFill>
                <a:latin typeface="Noto Sans SC"/>
                <a:ea typeface="Noto Sans SC"/>
                <a:cs typeface="Noto Sans SC"/>
                <a:sym typeface="Noto Sans SC"/>
              </a:rPr>
              <a:t>区块链目前是本地模拟，未上公链</a:t>
            </a:r>
            <a:endParaRPr lang="en-US" sz="1100"/>
          </a:p>
          <a:p>
            <a:pPr algn="l" indent="-165100" marL="165100">
              <a:lnSpc>
                <a:spcPct val="158333"/>
              </a:lnSpc>
              <a:buClr>
                <a:srgbClr val="50322D"/>
              </a:buClr>
              <a:buChar char="•"/>
            </a:pPr>
            <a:r>
              <a:rPr lang="en-US" b="false" i="false" strike="noStrike" u="none" sz="1300">
                <a:solidFill>
                  <a:srgbClr val="50322D"/>
                </a:solidFill>
                <a:latin typeface="Noto Sans SC"/>
                <a:ea typeface="Noto Sans SC"/>
                <a:cs typeface="Noto Sans SC"/>
                <a:sym typeface="Noto Sans SC"/>
              </a:rPr>
              <a:t>缓存用内存实现，未接入真实 Redis</a:t>
            </a:r>
          </a:p>
          <a:p>
            <a:pPr algn="l" indent="-165100" marL="165100">
              <a:lnSpc>
                <a:spcPct val="158333"/>
              </a:lnSpc>
              <a:buClr>
                <a:srgbClr val="50322D"/>
              </a:buClr>
              <a:buChar char="•"/>
            </a:pPr>
            <a:r>
              <a:rPr lang="en-US" b="false" i="false" strike="noStrike" u="none" sz="1300">
                <a:solidFill>
                  <a:srgbClr val="50322D"/>
                </a:solidFill>
                <a:latin typeface="Noto Sans SC"/>
                <a:ea typeface="Noto Sans SC"/>
                <a:cs typeface="Noto Sans SC"/>
                <a:sym typeface="Noto Sans SC"/>
              </a:rPr>
              <a:t>支付为流程模拟，未接真实支付</a:t>
            </a:r>
          </a:p>
          <a:p>
            <a:pPr algn="l" indent="-165100" marL="165100">
              <a:lnSpc>
                <a:spcPct val="158333"/>
              </a:lnSpc>
              <a:buClr>
                <a:srgbClr val="50322D"/>
              </a:buClr>
              <a:buChar char="•"/>
            </a:pPr>
            <a:r>
              <a:rPr lang="en-US" b="false" i="false" strike="noStrike" u="none" sz="1300">
                <a:solidFill>
                  <a:srgbClr val="50322D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移动端适配和 UI 细节仍可优化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42D1E">
                <a:alpha val="100000"/>
              </a:srgbClr>
            </a:gs>
            <a:gs pos="60000">
              <a:srgbClr val="2D5A3C">
                <a:alpha val="100000"/>
              </a:srgbClr>
            </a:gs>
            <a:gs pos="100000">
              <a:srgbClr val="508C64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8DCCD"/>
                </a:solidFill>
                <a:latin typeface="Noto Sans SC"/>
                <a:ea typeface="Noto Sans SC"/>
                <a:cs typeface="Noto Sans SC"/>
                <a:sym typeface="Noto Sans SC"/>
              </a:rPr>
              <a:t>06 · 团队与展望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524000"/>
            <a:ext cx="4318000" cy="3683000"/>
          </a:xfrm>
          <a:prstGeom prst="roundRect">
            <a:avLst>
              <a:gd name="adj" fmla="val 4827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4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29210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6F0E8"/>
                </a:solidFill>
                <a:latin typeface="Noto Sans SC"/>
                <a:ea typeface="Noto Sans SC"/>
                <a:cs typeface="Noto Sans SC"/>
                <a:sym typeface="Noto Sans SC"/>
              </a:rPr>
              <a:t>小组成员合影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3429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4C8B9"/>
                </a:solidFill>
                <a:latin typeface="Noto Sans SC"/>
                <a:ea typeface="Noto Sans SC"/>
                <a:cs typeface="Noto Sans SC"/>
                <a:sym typeface="Noto Sans SC"/>
              </a:rPr>
              <a:t>（请替换为真实合影）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5969000" y="1524000"/>
            <a:ext cx="533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278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969000" y="2286000"/>
            <a:ext cx="5334000" cy="292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58333"/>
              </a:lnSpc>
              <a:buClr>
                <a:srgbClr val="E6F0E8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E6F0E8"/>
                </a:solidFill>
                <a:latin typeface="Noto Sans SC"/>
                <a:ea typeface="Noto Sans SC"/>
                <a:cs typeface="Noto Sans SC"/>
                <a:sym typeface="Noto Sans SC"/>
              </a:rPr>
              <a:t>接入真实联盟链 / 以太坊测试网</a:t>
            </a:r>
            <a:endParaRPr lang="en-US" sz="1100"/>
          </a:p>
          <a:p>
            <a:pPr algn="l" indent="-177800" marL="177800">
              <a:lnSpc>
                <a:spcPct val="158333"/>
              </a:lnSpc>
              <a:buClr>
                <a:srgbClr val="E6F0E8"/>
              </a:buClr>
              <a:buChar char="•"/>
            </a:pPr>
            <a:r>
              <a:rPr lang="en-US" b="false" i="false" strike="noStrike" u="none" sz="1400">
                <a:solidFill>
                  <a:srgbClr val="E6F0E8"/>
                </a:solidFill>
                <a:latin typeface="Noto Sans SC"/>
                <a:ea typeface="Noto Sans SC"/>
                <a:cs typeface="Noto Sans SC"/>
                <a:sym typeface="Noto Sans SC"/>
              </a:rPr>
              <a:t>部署真实 Redis，支撑扫码高并发</a:t>
            </a:r>
          </a:p>
          <a:p>
            <a:pPr algn="l" indent="-177800" marL="177800">
              <a:lnSpc>
                <a:spcPct val="158333"/>
              </a:lnSpc>
              <a:buClr>
                <a:srgbClr val="E6F0E8"/>
              </a:buClr>
              <a:buChar char="•"/>
            </a:pPr>
            <a:r>
              <a:rPr lang="en-US" b="false" i="false" strike="noStrike" u="none" sz="1400">
                <a:solidFill>
                  <a:srgbClr val="E6F0E8"/>
                </a:solidFill>
                <a:latin typeface="Noto Sans SC"/>
                <a:ea typeface="Noto Sans SC"/>
                <a:cs typeface="Noto Sans SC"/>
                <a:sym typeface="Noto Sans SC"/>
              </a:rPr>
              <a:t>对接真实支付与电子凭证</a:t>
            </a:r>
          </a:p>
          <a:p>
            <a:pPr algn="l" indent="-177800" marL="177800">
              <a:lnSpc>
                <a:spcPct val="158333"/>
              </a:lnSpc>
              <a:buClr>
                <a:srgbClr val="E6F0E8"/>
              </a:buClr>
              <a:buChar char="•"/>
            </a:pPr>
            <a:r>
              <a:rPr lang="en-US" b="false" i="false" strike="noStrike" u="none" sz="1400">
                <a:solidFill>
                  <a:srgbClr val="E6F0E8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开发小程序 / H5 扫码入口</a:t>
            </a:r>
          </a:p>
          <a:p>
            <a:pPr algn="l" indent="-177800" marL="177800">
              <a:lnSpc>
                <a:spcPct val="158333"/>
              </a:lnSpc>
              <a:buClr>
                <a:srgbClr val="E6F0E8"/>
              </a:buClr>
              <a:buChar char="•"/>
            </a:pPr>
            <a:r>
              <a:rPr lang="en-US" b="false" i="false" strike="noStrike" u="none" sz="1400">
                <a:solidFill>
                  <a:srgbClr val="E6F0E8"/>
                </a:solidFill>
                <a:latin typeface="Noto Sans SC"/>
                <a:ea typeface="Noto Sans SC"/>
                <a:cs typeface="Noto Sans SC"/>
                <a:sym typeface="Noto Sans SC"/>
              </a:rPr>
              <a:t>AI 助手扩展为智能选品与预警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191000" y="5715000"/>
            <a:ext cx="3810000" cy="558800"/>
          </a:xfrm>
          <a:prstGeom prst="roundRect">
            <a:avLst>
              <a:gd name="adj" fmla="val 50000"/>
            </a:avLst>
          </a:prstGeom>
          <a:solidFill>
            <a:srgbClr val="FFD2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4191000" y="57150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223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 · 敬请指正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